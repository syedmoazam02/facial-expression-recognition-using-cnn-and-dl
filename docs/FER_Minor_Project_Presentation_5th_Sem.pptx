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1D22C-663F-4E4D-8D93-D135B0E44A74}" v="198" dt="2025-09-30T23:35:41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5A162-B5D1-4F26-91BC-5A04DE4001D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232617-B919-4425-A5E4-4D5C06DACD6E}">
      <dgm:prSet/>
      <dgm:spPr/>
      <dgm:t>
        <a:bodyPr/>
        <a:lstStyle/>
        <a:p>
          <a:r>
            <a:rPr lang="en-US" b="1" baseline="0" dirty="0"/>
            <a:t>Facial Expression Recognition </a:t>
          </a:r>
          <a:r>
            <a:rPr lang="en-US" baseline="0" dirty="0"/>
            <a:t>(FER) refers to the technology that can automatically detect and interpret facial expressions from images or video frames.</a:t>
          </a:r>
          <a:endParaRPr lang="en-US" dirty="0"/>
        </a:p>
      </dgm:t>
    </dgm:pt>
    <dgm:pt modelId="{24041E49-CAA6-49C2-9023-2DFE223044CF}" type="parTrans" cxnId="{78ACECFC-00EC-478A-9368-43A4141E5F98}">
      <dgm:prSet/>
      <dgm:spPr/>
      <dgm:t>
        <a:bodyPr/>
        <a:lstStyle/>
        <a:p>
          <a:endParaRPr lang="en-US"/>
        </a:p>
      </dgm:t>
    </dgm:pt>
    <dgm:pt modelId="{31141A69-F9DC-40B0-A962-4D1D80478261}" type="sibTrans" cxnId="{78ACECFC-00EC-478A-9368-43A4141E5F98}">
      <dgm:prSet/>
      <dgm:spPr/>
      <dgm:t>
        <a:bodyPr/>
        <a:lstStyle/>
        <a:p>
          <a:endParaRPr lang="en-US"/>
        </a:p>
      </dgm:t>
    </dgm:pt>
    <dgm:pt modelId="{8CDFA388-5E1F-4D61-BFE6-0062138BF32B}">
      <dgm:prSet/>
      <dgm:spPr/>
      <dgm:t>
        <a:bodyPr/>
        <a:lstStyle/>
        <a:p>
          <a:r>
            <a:rPr lang="en-US" baseline="0"/>
            <a:t>Emotions like happiness, sadness, anger, fear, surprise, and disgust are commonly studied in FER.</a:t>
          </a:r>
          <a:endParaRPr lang="en-US"/>
        </a:p>
      </dgm:t>
    </dgm:pt>
    <dgm:pt modelId="{0566A09B-B69E-4582-ADEF-080D462EB552}" type="parTrans" cxnId="{9B01692F-FE2F-4F34-97FD-AB86BCC332FB}">
      <dgm:prSet/>
      <dgm:spPr/>
      <dgm:t>
        <a:bodyPr/>
        <a:lstStyle/>
        <a:p>
          <a:endParaRPr lang="en-US"/>
        </a:p>
      </dgm:t>
    </dgm:pt>
    <dgm:pt modelId="{28561548-9054-469F-84BC-D4035AA28299}" type="sibTrans" cxnId="{9B01692F-FE2F-4F34-97FD-AB86BCC332FB}">
      <dgm:prSet/>
      <dgm:spPr/>
      <dgm:t>
        <a:bodyPr/>
        <a:lstStyle/>
        <a:p>
          <a:endParaRPr lang="en-US"/>
        </a:p>
      </dgm:t>
    </dgm:pt>
    <dgm:pt modelId="{64C93072-F064-42A4-9337-15CE97189503}">
      <dgm:prSet/>
      <dgm:spPr/>
      <dgm:t>
        <a:bodyPr/>
        <a:lstStyle/>
        <a:p>
          <a:r>
            <a:rPr lang="en-US" b="1" baseline="0" dirty="0"/>
            <a:t>Deep Learning </a:t>
          </a:r>
          <a:r>
            <a:rPr lang="en-US" baseline="0" dirty="0"/>
            <a:t>is a subset of machine learning that uses neural networks with multiple layers (deep architectures) to learn complex patterns from data.</a:t>
          </a:r>
          <a:endParaRPr lang="en-US" dirty="0"/>
        </a:p>
      </dgm:t>
    </dgm:pt>
    <dgm:pt modelId="{162EDD7D-35D4-4C07-AEC6-966840EBDC85}" type="parTrans" cxnId="{003CED37-1669-4065-A0D4-33FEFD4F425A}">
      <dgm:prSet/>
      <dgm:spPr/>
      <dgm:t>
        <a:bodyPr/>
        <a:lstStyle/>
        <a:p>
          <a:endParaRPr lang="en-US"/>
        </a:p>
      </dgm:t>
    </dgm:pt>
    <dgm:pt modelId="{4D8B5471-8544-4ABF-AEE5-DED02D35500B}" type="sibTrans" cxnId="{003CED37-1669-4065-A0D4-33FEFD4F425A}">
      <dgm:prSet/>
      <dgm:spPr/>
      <dgm:t>
        <a:bodyPr/>
        <a:lstStyle/>
        <a:p>
          <a:endParaRPr lang="en-US"/>
        </a:p>
      </dgm:t>
    </dgm:pt>
    <dgm:pt modelId="{3EAC93FF-CAC3-41B1-AFD7-F3723A344EC8}">
      <dgm:prSet/>
      <dgm:spPr/>
      <dgm:t>
        <a:bodyPr/>
        <a:lstStyle/>
        <a:p>
          <a:r>
            <a:rPr lang="en-US" b="1" baseline="0"/>
            <a:t>CNNs</a:t>
          </a:r>
          <a:r>
            <a:rPr lang="en-US" baseline="0"/>
            <a:t> are a class of deep neural networks specifically designed for image analysis. They automatically detect spatial hierarchies in visual data.</a:t>
          </a:r>
          <a:endParaRPr lang="en-US"/>
        </a:p>
      </dgm:t>
    </dgm:pt>
    <dgm:pt modelId="{CF6E2828-DFDF-490C-AF7F-BF58250D6157}" type="parTrans" cxnId="{38753516-4C69-4F44-A38A-FB71338D99A1}">
      <dgm:prSet/>
      <dgm:spPr/>
      <dgm:t>
        <a:bodyPr/>
        <a:lstStyle/>
        <a:p>
          <a:endParaRPr lang="en-US"/>
        </a:p>
      </dgm:t>
    </dgm:pt>
    <dgm:pt modelId="{BEAB47F1-E445-45FD-B85B-294B7E0053B5}" type="sibTrans" cxnId="{38753516-4C69-4F44-A38A-FB71338D99A1}">
      <dgm:prSet/>
      <dgm:spPr/>
      <dgm:t>
        <a:bodyPr/>
        <a:lstStyle/>
        <a:p>
          <a:endParaRPr lang="en-US"/>
        </a:p>
      </dgm:t>
    </dgm:pt>
    <dgm:pt modelId="{6B417125-D73D-4DCD-818A-CD34D03ABB89}" type="pres">
      <dgm:prSet presAssocID="{A4C5A162-B5D1-4F26-91BC-5A04DE4001DF}" presName="vert0" presStyleCnt="0">
        <dgm:presLayoutVars>
          <dgm:dir/>
          <dgm:animOne val="branch"/>
          <dgm:animLvl val="lvl"/>
        </dgm:presLayoutVars>
      </dgm:prSet>
      <dgm:spPr/>
    </dgm:pt>
    <dgm:pt modelId="{6034AE45-DB3C-41FE-8EA7-FF640615B02D}" type="pres">
      <dgm:prSet presAssocID="{8A232617-B919-4425-A5E4-4D5C06DACD6E}" presName="thickLine" presStyleLbl="alignNode1" presStyleIdx="0" presStyleCnt="4"/>
      <dgm:spPr/>
    </dgm:pt>
    <dgm:pt modelId="{F5D14C20-08DC-4F6F-A607-F706A655AE42}" type="pres">
      <dgm:prSet presAssocID="{8A232617-B919-4425-A5E4-4D5C06DACD6E}" presName="horz1" presStyleCnt="0"/>
      <dgm:spPr/>
    </dgm:pt>
    <dgm:pt modelId="{D42ED8FB-ADB5-4F32-B631-4BD5B9603895}" type="pres">
      <dgm:prSet presAssocID="{8A232617-B919-4425-A5E4-4D5C06DACD6E}" presName="tx1" presStyleLbl="revTx" presStyleIdx="0" presStyleCnt="4"/>
      <dgm:spPr/>
    </dgm:pt>
    <dgm:pt modelId="{F599ABC4-07F7-4B73-8BF1-C235CAE49168}" type="pres">
      <dgm:prSet presAssocID="{8A232617-B919-4425-A5E4-4D5C06DACD6E}" presName="vert1" presStyleCnt="0"/>
      <dgm:spPr/>
    </dgm:pt>
    <dgm:pt modelId="{5DBE31D3-B8E3-4613-BFAB-D6291ED9C266}" type="pres">
      <dgm:prSet presAssocID="{8CDFA388-5E1F-4D61-BFE6-0062138BF32B}" presName="thickLine" presStyleLbl="alignNode1" presStyleIdx="1" presStyleCnt="4"/>
      <dgm:spPr/>
    </dgm:pt>
    <dgm:pt modelId="{10CECCF2-5F20-4EB2-A8FA-BE4BAAD0D734}" type="pres">
      <dgm:prSet presAssocID="{8CDFA388-5E1F-4D61-BFE6-0062138BF32B}" presName="horz1" presStyleCnt="0"/>
      <dgm:spPr/>
    </dgm:pt>
    <dgm:pt modelId="{4C5D484C-F53E-4FE1-AE0E-87CFFD2BE91F}" type="pres">
      <dgm:prSet presAssocID="{8CDFA388-5E1F-4D61-BFE6-0062138BF32B}" presName="tx1" presStyleLbl="revTx" presStyleIdx="1" presStyleCnt="4"/>
      <dgm:spPr/>
    </dgm:pt>
    <dgm:pt modelId="{C8888A0E-192A-4E98-921F-B717E0F86EA6}" type="pres">
      <dgm:prSet presAssocID="{8CDFA388-5E1F-4D61-BFE6-0062138BF32B}" presName="vert1" presStyleCnt="0"/>
      <dgm:spPr/>
    </dgm:pt>
    <dgm:pt modelId="{613E8805-BB6D-4D98-844B-059730025A5D}" type="pres">
      <dgm:prSet presAssocID="{64C93072-F064-42A4-9337-15CE97189503}" presName="thickLine" presStyleLbl="alignNode1" presStyleIdx="2" presStyleCnt="4"/>
      <dgm:spPr/>
    </dgm:pt>
    <dgm:pt modelId="{90B71B6B-A6A7-4368-ADA4-8C7EC6F25F5C}" type="pres">
      <dgm:prSet presAssocID="{64C93072-F064-42A4-9337-15CE97189503}" presName="horz1" presStyleCnt="0"/>
      <dgm:spPr/>
    </dgm:pt>
    <dgm:pt modelId="{4BDBAAD2-E145-4C82-A0DC-ABAABB465324}" type="pres">
      <dgm:prSet presAssocID="{64C93072-F064-42A4-9337-15CE97189503}" presName="tx1" presStyleLbl="revTx" presStyleIdx="2" presStyleCnt="4"/>
      <dgm:spPr/>
    </dgm:pt>
    <dgm:pt modelId="{D50D3D1F-F2F7-409E-B07E-3A981F394F3F}" type="pres">
      <dgm:prSet presAssocID="{64C93072-F064-42A4-9337-15CE97189503}" presName="vert1" presStyleCnt="0"/>
      <dgm:spPr/>
    </dgm:pt>
    <dgm:pt modelId="{B389296B-9042-4D7A-A218-C3A976032018}" type="pres">
      <dgm:prSet presAssocID="{3EAC93FF-CAC3-41B1-AFD7-F3723A344EC8}" presName="thickLine" presStyleLbl="alignNode1" presStyleIdx="3" presStyleCnt="4"/>
      <dgm:spPr/>
    </dgm:pt>
    <dgm:pt modelId="{40AF72E1-BF11-41CC-B85E-00A02A021D3B}" type="pres">
      <dgm:prSet presAssocID="{3EAC93FF-CAC3-41B1-AFD7-F3723A344EC8}" presName="horz1" presStyleCnt="0"/>
      <dgm:spPr/>
    </dgm:pt>
    <dgm:pt modelId="{F9B81735-F263-4391-9F0B-D499C559CBC7}" type="pres">
      <dgm:prSet presAssocID="{3EAC93FF-CAC3-41B1-AFD7-F3723A344EC8}" presName="tx1" presStyleLbl="revTx" presStyleIdx="3" presStyleCnt="4"/>
      <dgm:spPr/>
    </dgm:pt>
    <dgm:pt modelId="{0A2C822D-63CD-4EEA-ACF2-784E2E0EEAFB}" type="pres">
      <dgm:prSet presAssocID="{3EAC93FF-CAC3-41B1-AFD7-F3723A344EC8}" presName="vert1" presStyleCnt="0"/>
      <dgm:spPr/>
    </dgm:pt>
  </dgm:ptLst>
  <dgm:cxnLst>
    <dgm:cxn modelId="{38753516-4C69-4F44-A38A-FB71338D99A1}" srcId="{A4C5A162-B5D1-4F26-91BC-5A04DE4001DF}" destId="{3EAC93FF-CAC3-41B1-AFD7-F3723A344EC8}" srcOrd="3" destOrd="0" parTransId="{CF6E2828-DFDF-490C-AF7F-BF58250D6157}" sibTransId="{BEAB47F1-E445-45FD-B85B-294B7E0053B5}"/>
    <dgm:cxn modelId="{9B01692F-FE2F-4F34-97FD-AB86BCC332FB}" srcId="{A4C5A162-B5D1-4F26-91BC-5A04DE4001DF}" destId="{8CDFA388-5E1F-4D61-BFE6-0062138BF32B}" srcOrd="1" destOrd="0" parTransId="{0566A09B-B69E-4582-ADEF-080D462EB552}" sibTransId="{28561548-9054-469F-84BC-D4035AA28299}"/>
    <dgm:cxn modelId="{003CED37-1669-4065-A0D4-33FEFD4F425A}" srcId="{A4C5A162-B5D1-4F26-91BC-5A04DE4001DF}" destId="{64C93072-F064-42A4-9337-15CE97189503}" srcOrd="2" destOrd="0" parTransId="{162EDD7D-35D4-4C07-AEC6-966840EBDC85}" sibTransId="{4D8B5471-8544-4ABF-AEE5-DED02D35500B}"/>
    <dgm:cxn modelId="{B7CEB83A-74B8-4C9F-9A04-C8EB35D8938F}" type="presOf" srcId="{64C93072-F064-42A4-9337-15CE97189503}" destId="{4BDBAAD2-E145-4C82-A0DC-ABAABB465324}" srcOrd="0" destOrd="0" presId="urn:microsoft.com/office/officeart/2008/layout/LinedList"/>
    <dgm:cxn modelId="{96D7AD62-D7CC-49EC-B3CB-CF3D31C54580}" type="presOf" srcId="{8CDFA388-5E1F-4D61-BFE6-0062138BF32B}" destId="{4C5D484C-F53E-4FE1-AE0E-87CFFD2BE91F}" srcOrd="0" destOrd="0" presId="urn:microsoft.com/office/officeart/2008/layout/LinedList"/>
    <dgm:cxn modelId="{AB574558-15B2-44E5-9FC6-D93951B958B6}" type="presOf" srcId="{8A232617-B919-4425-A5E4-4D5C06DACD6E}" destId="{D42ED8FB-ADB5-4F32-B631-4BD5B9603895}" srcOrd="0" destOrd="0" presId="urn:microsoft.com/office/officeart/2008/layout/LinedList"/>
    <dgm:cxn modelId="{953C15CE-D731-4772-B1F7-8DCAD489B7F6}" type="presOf" srcId="{A4C5A162-B5D1-4F26-91BC-5A04DE4001DF}" destId="{6B417125-D73D-4DCD-818A-CD34D03ABB89}" srcOrd="0" destOrd="0" presId="urn:microsoft.com/office/officeart/2008/layout/LinedList"/>
    <dgm:cxn modelId="{8BD727D0-BCE2-43A4-A68E-CD1EC3FE1506}" type="presOf" srcId="{3EAC93FF-CAC3-41B1-AFD7-F3723A344EC8}" destId="{F9B81735-F263-4391-9F0B-D499C559CBC7}" srcOrd="0" destOrd="0" presId="urn:microsoft.com/office/officeart/2008/layout/LinedList"/>
    <dgm:cxn modelId="{78ACECFC-00EC-478A-9368-43A4141E5F98}" srcId="{A4C5A162-B5D1-4F26-91BC-5A04DE4001DF}" destId="{8A232617-B919-4425-A5E4-4D5C06DACD6E}" srcOrd="0" destOrd="0" parTransId="{24041E49-CAA6-49C2-9023-2DFE223044CF}" sibTransId="{31141A69-F9DC-40B0-A962-4D1D80478261}"/>
    <dgm:cxn modelId="{AC2D9675-A954-4B85-B5E3-E2FE861639D0}" type="presParOf" srcId="{6B417125-D73D-4DCD-818A-CD34D03ABB89}" destId="{6034AE45-DB3C-41FE-8EA7-FF640615B02D}" srcOrd="0" destOrd="0" presId="urn:microsoft.com/office/officeart/2008/layout/LinedList"/>
    <dgm:cxn modelId="{0C9E7CA4-EFAD-4A8A-BD9C-7D7DD6B10519}" type="presParOf" srcId="{6B417125-D73D-4DCD-818A-CD34D03ABB89}" destId="{F5D14C20-08DC-4F6F-A607-F706A655AE42}" srcOrd="1" destOrd="0" presId="urn:microsoft.com/office/officeart/2008/layout/LinedList"/>
    <dgm:cxn modelId="{C1264226-DB06-4B09-A733-D6E7061F0124}" type="presParOf" srcId="{F5D14C20-08DC-4F6F-A607-F706A655AE42}" destId="{D42ED8FB-ADB5-4F32-B631-4BD5B9603895}" srcOrd="0" destOrd="0" presId="urn:microsoft.com/office/officeart/2008/layout/LinedList"/>
    <dgm:cxn modelId="{EDBFDF39-0AAC-488C-952E-B43C3CB0E7D6}" type="presParOf" srcId="{F5D14C20-08DC-4F6F-A607-F706A655AE42}" destId="{F599ABC4-07F7-4B73-8BF1-C235CAE49168}" srcOrd="1" destOrd="0" presId="urn:microsoft.com/office/officeart/2008/layout/LinedList"/>
    <dgm:cxn modelId="{FDE36EEE-3E3C-4E3B-A753-1AE076CD6FCC}" type="presParOf" srcId="{6B417125-D73D-4DCD-818A-CD34D03ABB89}" destId="{5DBE31D3-B8E3-4613-BFAB-D6291ED9C266}" srcOrd="2" destOrd="0" presId="urn:microsoft.com/office/officeart/2008/layout/LinedList"/>
    <dgm:cxn modelId="{605FA0B8-0FE7-4B72-A02A-D286000C8BBF}" type="presParOf" srcId="{6B417125-D73D-4DCD-818A-CD34D03ABB89}" destId="{10CECCF2-5F20-4EB2-A8FA-BE4BAAD0D734}" srcOrd="3" destOrd="0" presId="urn:microsoft.com/office/officeart/2008/layout/LinedList"/>
    <dgm:cxn modelId="{04027EB7-D31A-4889-8304-3470143B5E4B}" type="presParOf" srcId="{10CECCF2-5F20-4EB2-A8FA-BE4BAAD0D734}" destId="{4C5D484C-F53E-4FE1-AE0E-87CFFD2BE91F}" srcOrd="0" destOrd="0" presId="urn:microsoft.com/office/officeart/2008/layout/LinedList"/>
    <dgm:cxn modelId="{ED84AE11-121A-4E5C-A1F8-D754819B970F}" type="presParOf" srcId="{10CECCF2-5F20-4EB2-A8FA-BE4BAAD0D734}" destId="{C8888A0E-192A-4E98-921F-B717E0F86EA6}" srcOrd="1" destOrd="0" presId="urn:microsoft.com/office/officeart/2008/layout/LinedList"/>
    <dgm:cxn modelId="{CD20425D-16AB-4C3A-A11B-615C17CF3F6A}" type="presParOf" srcId="{6B417125-D73D-4DCD-818A-CD34D03ABB89}" destId="{613E8805-BB6D-4D98-844B-059730025A5D}" srcOrd="4" destOrd="0" presId="urn:microsoft.com/office/officeart/2008/layout/LinedList"/>
    <dgm:cxn modelId="{5E9BBAAB-9120-4443-B034-B3F19A6617B0}" type="presParOf" srcId="{6B417125-D73D-4DCD-818A-CD34D03ABB89}" destId="{90B71B6B-A6A7-4368-ADA4-8C7EC6F25F5C}" srcOrd="5" destOrd="0" presId="urn:microsoft.com/office/officeart/2008/layout/LinedList"/>
    <dgm:cxn modelId="{E9A3EA28-845E-4C1A-860C-06BB19EE1FDC}" type="presParOf" srcId="{90B71B6B-A6A7-4368-ADA4-8C7EC6F25F5C}" destId="{4BDBAAD2-E145-4C82-A0DC-ABAABB465324}" srcOrd="0" destOrd="0" presId="urn:microsoft.com/office/officeart/2008/layout/LinedList"/>
    <dgm:cxn modelId="{A69783DF-ED44-4BBB-BE72-88E32D99042C}" type="presParOf" srcId="{90B71B6B-A6A7-4368-ADA4-8C7EC6F25F5C}" destId="{D50D3D1F-F2F7-409E-B07E-3A981F394F3F}" srcOrd="1" destOrd="0" presId="urn:microsoft.com/office/officeart/2008/layout/LinedList"/>
    <dgm:cxn modelId="{8F5AA869-3FCF-4045-B092-44C04C612314}" type="presParOf" srcId="{6B417125-D73D-4DCD-818A-CD34D03ABB89}" destId="{B389296B-9042-4D7A-A218-C3A976032018}" srcOrd="6" destOrd="0" presId="urn:microsoft.com/office/officeart/2008/layout/LinedList"/>
    <dgm:cxn modelId="{AD1B0219-4D98-4246-AECD-ECFDE7082512}" type="presParOf" srcId="{6B417125-D73D-4DCD-818A-CD34D03ABB89}" destId="{40AF72E1-BF11-41CC-B85E-00A02A021D3B}" srcOrd="7" destOrd="0" presId="urn:microsoft.com/office/officeart/2008/layout/LinedList"/>
    <dgm:cxn modelId="{12320161-3E18-47DD-AE14-B8F4F93B4E76}" type="presParOf" srcId="{40AF72E1-BF11-41CC-B85E-00A02A021D3B}" destId="{F9B81735-F263-4391-9F0B-D499C559CBC7}" srcOrd="0" destOrd="0" presId="urn:microsoft.com/office/officeart/2008/layout/LinedList"/>
    <dgm:cxn modelId="{52BB5B9F-8CF6-4C8B-9144-FF72526A8F33}" type="presParOf" srcId="{40AF72E1-BF11-41CC-B85E-00A02A021D3B}" destId="{0A2C822D-63CD-4EEA-ACF2-784E2E0EEA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9AA329-01A9-49FF-9903-1D8AB1E1D797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2B2DB9-20F2-4EF7-BBED-BD1CB0CD1FDB}">
      <dgm:prSet/>
      <dgm:spPr/>
      <dgm:t>
        <a:bodyPr/>
        <a:lstStyle/>
        <a:p>
          <a:r>
            <a:rPr lang="en-US"/>
            <a:t>Facial Expression Recognition (FER) plays a crucial role in enhancing human-computer interaction, security systems, and healthcare diagnostics.</a:t>
          </a:r>
        </a:p>
      </dgm:t>
    </dgm:pt>
    <dgm:pt modelId="{0DECAED7-F9FE-43E6-97F4-FEE31DB000E8}" type="parTrans" cxnId="{4B5594E7-6C7A-44CF-87EA-6007A71C5562}">
      <dgm:prSet/>
      <dgm:spPr/>
      <dgm:t>
        <a:bodyPr/>
        <a:lstStyle/>
        <a:p>
          <a:endParaRPr lang="en-US"/>
        </a:p>
      </dgm:t>
    </dgm:pt>
    <dgm:pt modelId="{DC989663-C5E7-4B8F-A1C9-35301240E8BC}" type="sibTrans" cxnId="{4B5594E7-6C7A-44CF-87EA-6007A71C5562}">
      <dgm:prSet/>
      <dgm:spPr/>
      <dgm:t>
        <a:bodyPr/>
        <a:lstStyle/>
        <a:p>
          <a:endParaRPr lang="en-US"/>
        </a:p>
      </dgm:t>
    </dgm:pt>
    <dgm:pt modelId="{35A9266E-35E1-428B-A4A9-10BBF9D0D8A0}">
      <dgm:prSet/>
      <dgm:spPr/>
      <dgm:t>
        <a:bodyPr/>
        <a:lstStyle/>
        <a:p>
          <a:r>
            <a:rPr lang="en-US"/>
            <a:t>The use of </a:t>
          </a:r>
          <a:r>
            <a:rPr lang="en-US" b="1"/>
            <a:t>Convolutional Neural Networks (CNNs)</a:t>
          </a:r>
          <a:r>
            <a:rPr lang="en-US"/>
            <a:t> and </a:t>
          </a:r>
          <a:r>
            <a:rPr lang="en-US" b="1"/>
            <a:t>Deep Learning</a:t>
          </a:r>
          <a:r>
            <a:rPr lang="en-US"/>
            <a:t> significantly improves the </a:t>
          </a:r>
          <a:r>
            <a:rPr lang="en-US" b="1"/>
            <a:t>accuracy</a:t>
          </a:r>
          <a:r>
            <a:rPr lang="en-US"/>
            <a:t> and </a:t>
          </a:r>
          <a:r>
            <a:rPr lang="en-US" b="1"/>
            <a:t>efficiency</a:t>
          </a:r>
          <a:r>
            <a:rPr lang="en-US"/>
            <a:t> of emotion detection from facial images.</a:t>
          </a:r>
        </a:p>
      </dgm:t>
    </dgm:pt>
    <dgm:pt modelId="{644700FE-67BE-4875-9361-C1E03C0A679F}" type="parTrans" cxnId="{F15E6475-4715-4F94-AB14-46B4E7D1DFC8}">
      <dgm:prSet/>
      <dgm:spPr/>
      <dgm:t>
        <a:bodyPr/>
        <a:lstStyle/>
        <a:p>
          <a:endParaRPr lang="en-US"/>
        </a:p>
      </dgm:t>
    </dgm:pt>
    <dgm:pt modelId="{4CC8D803-B392-44E1-9F1F-F08E45FF2A94}" type="sibTrans" cxnId="{F15E6475-4715-4F94-AB14-46B4E7D1DFC8}">
      <dgm:prSet/>
      <dgm:spPr/>
      <dgm:t>
        <a:bodyPr/>
        <a:lstStyle/>
        <a:p>
          <a:endParaRPr lang="en-US"/>
        </a:p>
      </dgm:t>
    </dgm:pt>
    <dgm:pt modelId="{9470C691-346E-42E8-8F3A-9943FC8223AE}">
      <dgm:prSet/>
      <dgm:spPr/>
      <dgm:t>
        <a:bodyPr/>
        <a:lstStyle/>
        <a:p>
          <a:r>
            <a:rPr lang="en-US" dirty="0"/>
            <a:t>It successfully classifies key expressions like happiness, sadness, anger, surprise, etc., with promising performance metrics.</a:t>
          </a:r>
        </a:p>
      </dgm:t>
    </dgm:pt>
    <dgm:pt modelId="{FA717232-56E9-4B1A-903B-0AAD2BF4DDE0}" type="parTrans" cxnId="{DA918234-9D98-4764-A709-0DFB848027E2}">
      <dgm:prSet/>
      <dgm:spPr/>
      <dgm:t>
        <a:bodyPr/>
        <a:lstStyle/>
        <a:p>
          <a:endParaRPr lang="en-US"/>
        </a:p>
      </dgm:t>
    </dgm:pt>
    <dgm:pt modelId="{2D5EFA64-9568-4B04-9080-F7F86FB3E8EB}" type="sibTrans" cxnId="{DA918234-9D98-4764-A709-0DFB848027E2}">
      <dgm:prSet/>
      <dgm:spPr/>
      <dgm:t>
        <a:bodyPr/>
        <a:lstStyle/>
        <a:p>
          <a:endParaRPr lang="en-US"/>
        </a:p>
      </dgm:t>
    </dgm:pt>
    <dgm:pt modelId="{37B6A4DF-0D81-4BA9-9D14-E81719507CA0}">
      <dgm:prSet/>
      <dgm:spPr/>
      <dgm:t>
        <a:bodyPr/>
        <a:lstStyle/>
        <a:p>
          <a:r>
            <a:rPr lang="en-US"/>
            <a:t>The integration of CNNs allows for </a:t>
          </a:r>
          <a:r>
            <a:rPr lang="en-US" b="1"/>
            <a:t>automatic feature extraction</a:t>
          </a:r>
          <a:r>
            <a:rPr lang="en-US"/>
            <a:t>, reducing the need for manual preprocessing.</a:t>
          </a:r>
        </a:p>
      </dgm:t>
    </dgm:pt>
    <dgm:pt modelId="{FE41006A-8B4E-4F23-B028-B7D00E594811}" type="parTrans" cxnId="{AED9144F-9484-4F7B-90C8-75FECA0B8F6B}">
      <dgm:prSet/>
      <dgm:spPr/>
      <dgm:t>
        <a:bodyPr/>
        <a:lstStyle/>
        <a:p>
          <a:endParaRPr lang="en-US"/>
        </a:p>
      </dgm:t>
    </dgm:pt>
    <dgm:pt modelId="{C4ACC35C-B698-4799-93B5-9C62C07161BF}" type="sibTrans" cxnId="{AED9144F-9484-4F7B-90C8-75FECA0B8F6B}">
      <dgm:prSet/>
      <dgm:spPr/>
      <dgm:t>
        <a:bodyPr/>
        <a:lstStyle/>
        <a:p>
          <a:endParaRPr lang="en-US"/>
        </a:p>
      </dgm:t>
    </dgm:pt>
    <dgm:pt modelId="{3D412D33-CC26-429B-8BFF-2CCABC8C9723}">
      <dgm:prSet/>
      <dgm:spPr/>
      <dgm:t>
        <a:bodyPr/>
        <a:lstStyle/>
        <a:p>
          <a:r>
            <a:rPr lang="en-US"/>
            <a:t>With further training on larger and more diverse datasets, the system can be made even more </a:t>
          </a:r>
          <a:r>
            <a:rPr lang="en-US" b="1"/>
            <a:t>robust</a:t>
          </a:r>
          <a:r>
            <a:rPr lang="en-US"/>
            <a:t>, </a:t>
          </a:r>
          <a:r>
            <a:rPr lang="en-US" b="1"/>
            <a:t>real-time</a:t>
          </a:r>
          <a:r>
            <a:rPr lang="en-US"/>
            <a:t>, and </a:t>
          </a:r>
          <a:r>
            <a:rPr lang="en-US" b="1"/>
            <a:t>applicable across various domains</a:t>
          </a:r>
          <a:r>
            <a:rPr lang="en-US"/>
            <a:t>.</a:t>
          </a:r>
        </a:p>
      </dgm:t>
    </dgm:pt>
    <dgm:pt modelId="{1ECBDA7A-9452-4925-95B9-952F3F89B740}" type="parTrans" cxnId="{B97B0E09-F5C4-4C77-BDB3-5345F7C5894E}">
      <dgm:prSet/>
      <dgm:spPr/>
      <dgm:t>
        <a:bodyPr/>
        <a:lstStyle/>
        <a:p>
          <a:endParaRPr lang="en-US"/>
        </a:p>
      </dgm:t>
    </dgm:pt>
    <dgm:pt modelId="{F7F92239-DA91-4205-ACA2-8858C5089848}" type="sibTrans" cxnId="{B97B0E09-F5C4-4C77-BDB3-5345F7C5894E}">
      <dgm:prSet/>
      <dgm:spPr/>
      <dgm:t>
        <a:bodyPr/>
        <a:lstStyle/>
        <a:p>
          <a:endParaRPr lang="en-US"/>
        </a:p>
      </dgm:t>
    </dgm:pt>
    <dgm:pt modelId="{BAD20AED-ADDD-447C-B961-04897F97563D}" type="pres">
      <dgm:prSet presAssocID="{DB9AA329-01A9-49FF-9903-1D8AB1E1D797}" presName="vert0" presStyleCnt="0">
        <dgm:presLayoutVars>
          <dgm:dir/>
          <dgm:animOne val="branch"/>
          <dgm:animLvl val="lvl"/>
        </dgm:presLayoutVars>
      </dgm:prSet>
      <dgm:spPr/>
    </dgm:pt>
    <dgm:pt modelId="{0CE5DB86-0C05-4551-8249-17D16743243B}" type="pres">
      <dgm:prSet presAssocID="{842B2DB9-20F2-4EF7-BBED-BD1CB0CD1FDB}" presName="thickLine" presStyleLbl="alignNode1" presStyleIdx="0" presStyleCnt="5"/>
      <dgm:spPr/>
    </dgm:pt>
    <dgm:pt modelId="{4C4F99FA-03E6-462B-93F1-AEB2849B0D3C}" type="pres">
      <dgm:prSet presAssocID="{842B2DB9-20F2-4EF7-BBED-BD1CB0CD1FDB}" presName="horz1" presStyleCnt="0"/>
      <dgm:spPr/>
    </dgm:pt>
    <dgm:pt modelId="{8120093D-33EA-4084-AC6B-0E56F4D1643B}" type="pres">
      <dgm:prSet presAssocID="{842B2DB9-20F2-4EF7-BBED-BD1CB0CD1FDB}" presName="tx1" presStyleLbl="revTx" presStyleIdx="0" presStyleCnt="5"/>
      <dgm:spPr/>
    </dgm:pt>
    <dgm:pt modelId="{2F5A1B58-9625-4AFE-A9BE-37F01FE800D0}" type="pres">
      <dgm:prSet presAssocID="{842B2DB9-20F2-4EF7-BBED-BD1CB0CD1FDB}" presName="vert1" presStyleCnt="0"/>
      <dgm:spPr/>
    </dgm:pt>
    <dgm:pt modelId="{7698A965-2905-4CEE-8B5A-CE0E2952BCF4}" type="pres">
      <dgm:prSet presAssocID="{35A9266E-35E1-428B-A4A9-10BBF9D0D8A0}" presName="thickLine" presStyleLbl="alignNode1" presStyleIdx="1" presStyleCnt="5"/>
      <dgm:spPr/>
    </dgm:pt>
    <dgm:pt modelId="{D4E9B06E-D62F-4BBD-996D-44928E06B743}" type="pres">
      <dgm:prSet presAssocID="{35A9266E-35E1-428B-A4A9-10BBF9D0D8A0}" presName="horz1" presStyleCnt="0"/>
      <dgm:spPr/>
    </dgm:pt>
    <dgm:pt modelId="{328B5394-2C41-45C5-A27A-BDAF6176F7A9}" type="pres">
      <dgm:prSet presAssocID="{35A9266E-35E1-428B-A4A9-10BBF9D0D8A0}" presName="tx1" presStyleLbl="revTx" presStyleIdx="1" presStyleCnt="5"/>
      <dgm:spPr/>
    </dgm:pt>
    <dgm:pt modelId="{528BDF5B-C97E-4704-BBDA-6A569DC9E248}" type="pres">
      <dgm:prSet presAssocID="{35A9266E-35E1-428B-A4A9-10BBF9D0D8A0}" presName="vert1" presStyleCnt="0"/>
      <dgm:spPr/>
    </dgm:pt>
    <dgm:pt modelId="{902FF67B-765B-45D7-9B3F-9F674F558833}" type="pres">
      <dgm:prSet presAssocID="{9470C691-346E-42E8-8F3A-9943FC8223AE}" presName="thickLine" presStyleLbl="alignNode1" presStyleIdx="2" presStyleCnt="5"/>
      <dgm:spPr/>
    </dgm:pt>
    <dgm:pt modelId="{B59060F9-E06A-4962-A1A7-B716C020F06E}" type="pres">
      <dgm:prSet presAssocID="{9470C691-346E-42E8-8F3A-9943FC8223AE}" presName="horz1" presStyleCnt="0"/>
      <dgm:spPr/>
    </dgm:pt>
    <dgm:pt modelId="{A0AEEC45-E12F-4F4A-B167-98480C23FE02}" type="pres">
      <dgm:prSet presAssocID="{9470C691-346E-42E8-8F3A-9943FC8223AE}" presName="tx1" presStyleLbl="revTx" presStyleIdx="2" presStyleCnt="5"/>
      <dgm:spPr/>
    </dgm:pt>
    <dgm:pt modelId="{91BA328D-3B45-405B-A1F6-82A4AE1B9F5E}" type="pres">
      <dgm:prSet presAssocID="{9470C691-346E-42E8-8F3A-9943FC8223AE}" presName="vert1" presStyleCnt="0"/>
      <dgm:spPr/>
    </dgm:pt>
    <dgm:pt modelId="{D7848374-E0A0-4144-860F-B4ED0240808C}" type="pres">
      <dgm:prSet presAssocID="{37B6A4DF-0D81-4BA9-9D14-E81719507CA0}" presName="thickLine" presStyleLbl="alignNode1" presStyleIdx="3" presStyleCnt="5"/>
      <dgm:spPr/>
    </dgm:pt>
    <dgm:pt modelId="{D5DD117A-75AC-49F0-80E2-D349EEAC9A62}" type="pres">
      <dgm:prSet presAssocID="{37B6A4DF-0D81-4BA9-9D14-E81719507CA0}" presName="horz1" presStyleCnt="0"/>
      <dgm:spPr/>
    </dgm:pt>
    <dgm:pt modelId="{4308233A-92F7-4185-91E2-C56C12BFA3A8}" type="pres">
      <dgm:prSet presAssocID="{37B6A4DF-0D81-4BA9-9D14-E81719507CA0}" presName="tx1" presStyleLbl="revTx" presStyleIdx="3" presStyleCnt="5"/>
      <dgm:spPr/>
    </dgm:pt>
    <dgm:pt modelId="{EF41AF19-3AE7-456D-ADC3-DDE7ED126E69}" type="pres">
      <dgm:prSet presAssocID="{37B6A4DF-0D81-4BA9-9D14-E81719507CA0}" presName="vert1" presStyleCnt="0"/>
      <dgm:spPr/>
    </dgm:pt>
    <dgm:pt modelId="{D6146679-A12F-4375-8455-054448DB8AAA}" type="pres">
      <dgm:prSet presAssocID="{3D412D33-CC26-429B-8BFF-2CCABC8C9723}" presName="thickLine" presStyleLbl="alignNode1" presStyleIdx="4" presStyleCnt="5"/>
      <dgm:spPr/>
    </dgm:pt>
    <dgm:pt modelId="{17427372-F8B9-4CFD-9024-424745FDC22A}" type="pres">
      <dgm:prSet presAssocID="{3D412D33-CC26-429B-8BFF-2CCABC8C9723}" presName="horz1" presStyleCnt="0"/>
      <dgm:spPr/>
    </dgm:pt>
    <dgm:pt modelId="{F34EDB76-93A8-47F0-B2B2-98FDE97B166B}" type="pres">
      <dgm:prSet presAssocID="{3D412D33-CC26-429B-8BFF-2CCABC8C9723}" presName="tx1" presStyleLbl="revTx" presStyleIdx="4" presStyleCnt="5"/>
      <dgm:spPr/>
    </dgm:pt>
    <dgm:pt modelId="{D3135062-31D2-433F-B181-462197C66E89}" type="pres">
      <dgm:prSet presAssocID="{3D412D33-CC26-429B-8BFF-2CCABC8C9723}" presName="vert1" presStyleCnt="0"/>
      <dgm:spPr/>
    </dgm:pt>
  </dgm:ptLst>
  <dgm:cxnLst>
    <dgm:cxn modelId="{B97B0E09-F5C4-4C77-BDB3-5345F7C5894E}" srcId="{DB9AA329-01A9-49FF-9903-1D8AB1E1D797}" destId="{3D412D33-CC26-429B-8BFF-2CCABC8C9723}" srcOrd="4" destOrd="0" parTransId="{1ECBDA7A-9452-4925-95B9-952F3F89B740}" sibTransId="{F7F92239-DA91-4205-ACA2-8858C5089848}"/>
    <dgm:cxn modelId="{DA918234-9D98-4764-A709-0DFB848027E2}" srcId="{DB9AA329-01A9-49FF-9903-1D8AB1E1D797}" destId="{9470C691-346E-42E8-8F3A-9943FC8223AE}" srcOrd="2" destOrd="0" parTransId="{FA717232-56E9-4B1A-903B-0AAD2BF4DDE0}" sibTransId="{2D5EFA64-9568-4B04-9080-F7F86FB3E8EB}"/>
    <dgm:cxn modelId="{2269505C-C97B-43A6-9471-F5405062E1E7}" type="presOf" srcId="{37B6A4DF-0D81-4BA9-9D14-E81719507CA0}" destId="{4308233A-92F7-4185-91E2-C56C12BFA3A8}" srcOrd="0" destOrd="0" presId="urn:microsoft.com/office/officeart/2008/layout/LinedList"/>
    <dgm:cxn modelId="{961BDD62-D06C-4D15-BEBB-66246C74B336}" type="presOf" srcId="{842B2DB9-20F2-4EF7-BBED-BD1CB0CD1FDB}" destId="{8120093D-33EA-4084-AC6B-0E56F4D1643B}" srcOrd="0" destOrd="0" presId="urn:microsoft.com/office/officeart/2008/layout/LinedList"/>
    <dgm:cxn modelId="{3FC1056D-651D-44A4-B100-74D343A9C2D8}" type="presOf" srcId="{35A9266E-35E1-428B-A4A9-10BBF9D0D8A0}" destId="{328B5394-2C41-45C5-A27A-BDAF6176F7A9}" srcOrd="0" destOrd="0" presId="urn:microsoft.com/office/officeart/2008/layout/LinedList"/>
    <dgm:cxn modelId="{AED9144F-9484-4F7B-90C8-75FECA0B8F6B}" srcId="{DB9AA329-01A9-49FF-9903-1D8AB1E1D797}" destId="{37B6A4DF-0D81-4BA9-9D14-E81719507CA0}" srcOrd="3" destOrd="0" parTransId="{FE41006A-8B4E-4F23-B028-B7D00E594811}" sibTransId="{C4ACC35C-B698-4799-93B5-9C62C07161BF}"/>
    <dgm:cxn modelId="{F15E6475-4715-4F94-AB14-46B4E7D1DFC8}" srcId="{DB9AA329-01A9-49FF-9903-1D8AB1E1D797}" destId="{35A9266E-35E1-428B-A4A9-10BBF9D0D8A0}" srcOrd="1" destOrd="0" parTransId="{644700FE-67BE-4875-9361-C1E03C0A679F}" sibTransId="{4CC8D803-B392-44E1-9F1F-F08E45FF2A94}"/>
    <dgm:cxn modelId="{EC02CC7B-F575-4775-A861-89B56992F8F9}" type="presOf" srcId="{3D412D33-CC26-429B-8BFF-2CCABC8C9723}" destId="{F34EDB76-93A8-47F0-B2B2-98FDE97B166B}" srcOrd="0" destOrd="0" presId="urn:microsoft.com/office/officeart/2008/layout/LinedList"/>
    <dgm:cxn modelId="{BF5B8A83-3829-482C-B55F-02BFF534DEF2}" type="presOf" srcId="{DB9AA329-01A9-49FF-9903-1D8AB1E1D797}" destId="{BAD20AED-ADDD-447C-B961-04897F97563D}" srcOrd="0" destOrd="0" presId="urn:microsoft.com/office/officeart/2008/layout/LinedList"/>
    <dgm:cxn modelId="{4B5594E7-6C7A-44CF-87EA-6007A71C5562}" srcId="{DB9AA329-01A9-49FF-9903-1D8AB1E1D797}" destId="{842B2DB9-20F2-4EF7-BBED-BD1CB0CD1FDB}" srcOrd="0" destOrd="0" parTransId="{0DECAED7-F9FE-43E6-97F4-FEE31DB000E8}" sibTransId="{DC989663-C5E7-4B8F-A1C9-35301240E8BC}"/>
    <dgm:cxn modelId="{8137E8EB-03A6-4FEC-9AA4-D75E0343C340}" type="presOf" srcId="{9470C691-346E-42E8-8F3A-9943FC8223AE}" destId="{A0AEEC45-E12F-4F4A-B167-98480C23FE02}" srcOrd="0" destOrd="0" presId="urn:microsoft.com/office/officeart/2008/layout/LinedList"/>
    <dgm:cxn modelId="{B45CC888-6488-4D17-A7A8-6A8C01A3D859}" type="presParOf" srcId="{BAD20AED-ADDD-447C-B961-04897F97563D}" destId="{0CE5DB86-0C05-4551-8249-17D16743243B}" srcOrd="0" destOrd="0" presId="urn:microsoft.com/office/officeart/2008/layout/LinedList"/>
    <dgm:cxn modelId="{38D42A4B-7FD5-446F-ADF4-CD878230C2FC}" type="presParOf" srcId="{BAD20AED-ADDD-447C-B961-04897F97563D}" destId="{4C4F99FA-03E6-462B-93F1-AEB2849B0D3C}" srcOrd="1" destOrd="0" presId="urn:microsoft.com/office/officeart/2008/layout/LinedList"/>
    <dgm:cxn modelId="{C7CA18C8-C988-42D7-B3C9-82E229BFB515}" type="presParOf" srcId="{4C4F99FA-03E6-462B-93F1-AEB2849B0D3C}" destId="{8120093D-33EA-4084-AC6B-0E56F4D1643B}" srcOrd="0" destOrd="0" presId="urn:microsoft.com/office/officeart/2008/layout/LinedList"/>
    <dgm:cxn modelId="{FD8AE890-CCDB-4CA1-B581-FE6A433E8CEA}" type="presParOf" srcId="{4C4F99FA-03E6-462B-93F1-AEB2849B0D3C}" destId="{2F5A1B58-9625-4AFE-A9BE-37F01FE800D0}" srcOrd="1" destOrd="0" presId="urn:microsoft.com/office/officeart/2008/layout/LinedList"/>
    <dgm:cxn modelId="{3370E7AC-FB4B-417C-810C-6C22557E34CD}" type="presParOf" srcId="{BAD20AED-ADDD-447C-B961-04897F97563D}" destId="{7698A965-2905-4CEE-8B5A-CE0E2952BCF4}" srcOrd="2" destOrd="0" presId="urn:microsoft.com/office/officeart/2008/layout/LinedList"/>
    <dgm:cxn modelId="{531B36F5-8E1D-4148-B9D2-0B41C27472B3}" type="presParOf" srcId="{BAD20AED-ADDD-447C-B961-04897F97563D}" destId="{D4E9B06E-D62F-4BBD-996D-44928E06B743}" srcOrd="3" destOrd="0" presId="urn:microsoft.com/office/officeart/2008/layout/LinedList"/>
    <dgm:cxn modelId="{09C4F23F-14F9-4746-91CC-E825BC6BF5E1}" type="presParOf" srcId="{D4E9B06E-D62F-4BBD-996D-44928E06B743}" destId="{328B5394-2C41-45C5-A27A-BDAF6176F7A9}" srcOrd="0" destOrd="0" presId="urn:microsoft.com/office/officeart/2008/layout/LinedList"/>
    <dgm:cxn modelId="{C1D57474-232E-48D5-87DD-41BABC814FF5}" type="presParOf" srcId="{D4E9B06E-D62F-4BBD-996D-44928E06B743}" destId="{528BDF5B-C97E-4704-BBDA-6A569DC9E248}" srcOrd="1" destOrd="0" presId="urn:microsoft.com/office/officeart/2008/layout/LinedList"/>
    <dgm:cxn modelId="{43F4E6F9-5FC0-45EC-9DB5-F822EF8A2B70}" type="presParOf" srcId="{BAD20AED-ADDD-447C-B961-04897F97563D}" destId="{902FF67B-765B-45D7-9B3F-9F674F558833}" srcOrd="4" destOrd="0" presId="urn:microsoft.com/office/officeart/2008/layout/LinedList"/>
    <dgm:cxn modelId="{48BF91FA-9643-4D14-ABC3-6456A2F082F1}" type="presParOf" srcId="{BAD20AED-ADDD-447C-B961-04897F97563D}" destId="{B59060F9-E06A-4962-A1A7-B716C020F06E}" srcOrd="5" destOrd="0" presId="urn:microsoft.com/office/officeart/2008/layout/LinedList"/>
    <dgm:cxn modelId="{26CCB430-BEDD-46EB-B596-DF40EFEB4C29}" type="presParOf" srcId="{B59060F9-E06A-4962-A1A7-B716C020F06E}" destId="{A0AEEC45-E12F-4F4A-B167-98480C23FE02}" srcOrd="0" destOrd="0" presId="urn:microsoft.com/office/officeart/2008/layout/LinedList"/>
    <dgm:cxn modelId="{F3870882-7A41-4BB2-8E12-853FF4B884E9}" type="presParOf" srcId="{B59060F9-E06A-4962-A1A7-B716C020F06E}" destId="{91BA328D-3B45-405B-A1F6-82A4AE1B9F5E}" srcOrd="1" destOrd="0" presId="urn:microsoft.com/office/officeart/2008/layout/LinedList"/>
    <dgm:cxn modelId="{5AABF146-F806-4630-8FBC-6273531D5D55}" type="presParOf" srcId="{BAD20AED-ADDD-447C-B961-04897F97563D}" destId="{D7848374-E0A0-4144-860F-B4ED0240808C}" srcOrd="6" destOrd="0" presId="urn:microsoft.com/office/officeart/2008/layout/LinedList"/>
    <dgm:cxn modelId="{A915A034-EC66-4B52-8489-79A7FFEB83D3}" type="presParOf" srcId="{BAD20AED-ADDD-447C-B961-04897F97563D}" destId="{D5DD117A-75AC-49F0-80E2-D349EEAC9A62}" srcOrd="7" destOrd="0" presId="urn:microsoft.com/office/officeart/2008/layout/LinedList"/>
    <dgm:cxn modelId="{D4DE385B-335B-4499-97D6-BAC133610679}" type="presParOf" srcId="{D5DD117A-75AC-49F0-80E2-D349EEAC9A62}" destId="{4308233A-92F7-4185-91E2-C56C12BFA3A8}" srcOrd="0" destOrd="0" presId="urn:microsoft.com/office/officeart/2008/layout/LinedList"/>
    <dgm:cxn modelId="{4B7374A4-168A-4138-9024-246E35086AA6}" type="presParOf" srcId="{D5DD117A-75AC-49F0-80E2-D349EEAC9A62}" destId="{EF41AF19-3AE7-456D-ADC3-DDE7ED126E69}" srcOrd="1" destOrd="0" presId="urn:microsoft.com/office/officeart/2008/layout/LinedList"/>
    <dgm:cxn modelId="{5FC92B89-4B88-46AF-BDE5-03E85FC7141B}" type="presParOf" srcId="{BAD20AED-ADDD-447C-B961-04897F97563D}" destId="{D6146679-A12F-4375-8455-054448DB8AAA}" srcOrd="8" destOrd="0" presId="urn:microsoft.com/office/officeart/2008/layout/LinedList"/>
    <dgm:cxn modelId="{3EBD9187-C154-420E-B2B6-A88309AC7A46}" type="presParOf" srcId="{BAD20AED-ADDD-447C-B961-04897F97563D}" destId="{17427372-F8B9-4CFD-9024-424745FDC22A}" srcOrd="9" destOrd="0" presId="urn:microsoft.com/office/officeart/2008/layout/LinedList"/>
    <dgm:cxn modelId="{30C1B62A-5843-44DC-9A3D-D75B36F4474D}" type="presParOf" srcId="{17427372-F8B9-4CFD-9024-424745FDC22A}" destId="{F34EDB76-93A8-47F0-B2B2-98FDE97B166B}" srcOrd="0" destOrd="0" presId="urn:microsoft.com/office/officeart/2008/layout/LinedList"/>
    <dgm:cxn modelId="{E6D6C414-A733-459D-A7AE-680FA25DCACA}" type="presParOf" srcId="{17427372-F8B9-4CFD-9024-424745FDC22A}" destId="{D3135062-31D2-433F-B181-462197C66E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4AE45-DB3C-41FE-8EA7-FF640615B02D}">
      <dsp:nvSpPr>
        <dsp:cNvPr id="0" name=""/>
        <dsp:cNvSpPr/>
      </dsp:nvSpPr>
      <dsp:spPr>
        <a:xfrm>
          <a:off x="0" y="0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2ED8FB-ADB5-4F32-B631-4BD5B9603895}">
      <dsp:nvSpPr>
        <dsp:cNvPr id="0" name=""/>
        <dsp:cNvSpPr/>
      </dsp:nvSpPr>
      <dsp:spPr>
        <a:xfrm>
          <a:off x="0" y="0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baseline="0" dirty="0"/>
            <a:t>Facial Expression Recognition </a:t>
          </a:r>
          <a:r>
            <a:rPr lang="en-US" sz="2300" kern="1200" baseline="0" dirty="0"/>
            <a:t>(FER) refers to the technology that can automatically detect and interpret facial expressions from images or video frames.</a:t>
          </a:r>
          <a:endParaRPr lang="en-US" sz="2300" kern="1200" dirty="0"/>
        </a:p>
      </dsp:txBody>
      <dsp:txXfrm>
        <a:off x="0" y="0"/>
        <a:ext cx="6683374" cy="1151731"/>
      </dsp:txXfrm>
    </dsp:sp>
    <dsp:sp modelId="{5DBE31D3-B8E3-4613-BFAB-D6291ED9C266}">
      <dsp:nvSpPr>
        <dsp:cNvPr id="0" name=""/>
        <dsp:cNvSpPr/>
      </dsp:nvSpPr>
      <dsp:spPr>
        <a:xfrm>
          <a:off x="0" y="1151731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729760"/>
                <a:satOff val="6639"/>
                <a:lumOff val="196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729760"/>
                <a:satOff val="6639"/>
                <a:lumOff val="196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729760"/>
                <a:satOff val="6639"/>
                <a:lumOff val="196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729760"/>
              <a:satOff val="6639"/>
              <a:lumOff val="196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5D484C-F53E-4FE1-AE0E-87CFFD2BE91F}">
      <dsp:nvSpPr>
        <dsp:cNvPr id="0" name=""/>
        <dsp:cNvSpPr/>
      </dsp:nvSpPr>
      <dsp:spPr>
        <a:xfrm>
          <a:off x="0" y="1151731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Emotions like happiness, sadness, anger, fear, surprise, and disgust are commonly studied in FER.</a:t>
          </a:r>
          <a:endParaRPr lang="en-US" sz="2300" kern="1200"/>
        </a:p>
      </dsp:txBody>
      <dsp:txXfrm>
        <a:off x="0" y="1151731"/>
        <a:ext cx="6683374" cy="1151731"/>
      </dsp:txXfrm>
    </dsp:sp>
    <dsp:sp modelId="{613E8805-BB6D-4D98-844B-059730025A5D}">
      <dsp:nvSpPr>
        <dsp:cNvPr id="0" name=""/>
        <dsp:cNvSpPr/>
      </dsp:nvSpPr>
      <dsp:spPr>
        <a:xfrm>
          <a:off x="0" y="230346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1459520"/>
                <a:satOff val="13277"/>
                <a:lumOff val="39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459520"/>
                <a:satOff val="13277"/>
                <a:lumOff val="39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459520"/>
                <a:satOff val="13277"/>
                <a:lumOff val="39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459520"/>
              <a:satOff val="13277"/>
              <a:lumOff val="392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DBAAD2-E145-4C82-A0DC-ABAABB465324}">
      <dsp:nvSpPr>
        <dsp:cNvPr id="0" name=""/>
        <dsp:cNvSpPr/>
      </dsp:nvSpPr>
      <dsp:spPr>
        <a:xfrm>
          <a:off x="0" y="2303462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baseline="0" dirty="0"/>
            <a:t>Deep Learning </a:t>
          </a:r>
          <a:r>
            <a:rPr lang="en-US" sz="2300" kern="1200" baseline="0" dirty="0"/>
            <a:t>is a subset of machine learning that uses neural networks with multiple layers (deep architectures) to learn complex patterns from data.</a:t>
          </a:r>
          <a:endParaRPr lang="en-US" sz="2300" kern="1200" dirty="0"/>
        </a:p>
      </dsp:txBody>
      <dsp:txXfrm>
        <a:off x="0" y="2303462"/>
        <a:ext cx="6683374" cy="1151731"/>
      </dsp:txXfrm>
    </dsp:sp>
    <dsp:sp modelId="{B389296B-9042-4D7A-A218-C3A976032018}">
      <dsp:nvSpPr>
        <dsp:cNvPr id="0" name=""/>
        <dsp:cNvSpPr/>
      </dsp:nvSpPr>
      <dsp:spPr>
        <a:xfrm>
          <a:off x="0" y="3455193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2189280"/>
                <a:satOff val="19916"/>
                <a:lumOff val="588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2189280"/>
                <a:satOff val="19916"/>
                <a:lumOff val="588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2189280"/>
                <a:satOff val="19916"/>
                <a:lumOff val="588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189280"/>
              <a:satOff val="19916"/>
              <a:lumOff val="588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B81735-F263-4391-9F0B-D499C559CBC7}">
      <dsp:nvSpPr>
        <dsp:cNvPr id="0" name=""/>
        <dsp:cNvSpPr/>
      </dsp:nvSpPr>
      <dsp:spPr>
        <a:xfrm>
          <a:off x="0" y="3455193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baseline="0"/>
            <a:t>CNNs</a:t>
          </a:r>
          <a:r>
            <a:rPr lang="en-US" sz="2300" kern="1200" baseline="0"/>
            <a:t> are a class of deep neural networks specifically designed for image analysis. They automatically detect spatial hierarchies in visual data.</a:t>
          </a:r>
          <a:endParaRPr lang="en-US" sz="2300" kern="1200"/>
        </a:p>
      </dsp:txBody>
      <dsp:txXfrm>
        <a:off x="0" y="3455193"/>
        <a:ext cx="6683374" cy="1151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5DB86-0C05-4551-8249-17D16743243B}">
      <dsp:nvSpPr>
        <dsp:cNvPr id="0" name=""/>
        <dsp:cNvSpPr/>
      </dsp:nvSpPr>
      <dsp:spPr>
        <a:xfrm>
          <a:off x="0" y="56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20093D-33EA-4084-AC6B-0E56F4D1643B}">
      <dsp:nvSpPr>
        <dsp:cNvPr id="0" name=""/>
        <dsp:cNvSpPr/>
      </dsp:nvSpPr>
      <dsp:spPr>
        <a:xfrm>
          <a:off x="0" y="56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Facial Expression Recognition (FER) plays a crucial role in enhancing human-computer interaction, security systems, and healthcare diagnostics.</a:t>
          </a:r>
        </a:p>
      </dsp:txBody>
      <dsp:txXfrm>
        <a:off x="0" y="562"/>
        <a:ext cx="6683374" cy="921160"/>
      </dsp:txXfrm>
    </dsp:sp>
    <dsp:sp modelId="{7698A965-2905-4CEE-8B5A-CE0E2952BCF4}">
      <dsp:nvSpPr>
        <dsp:cNvPr id="0" name=""/>
        <dsp:cNvSpPr/>
      </dsp:nvSpPr>
      <dsp:spPr>
        <a:xfrm>
          <a:off x="0" y="92172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547320"/>
                <a:satOff val="4979"/>
                <a:lumOff val="147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547320"/>
                <a:satOff val="4979"/>
                <a:lumOff val="147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547320"/>
                <a:satOff val="4979"/>
                <a:lumOff val="147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547320"/>
              <a:satOff val="4979"/>
              <a:lumOff val="147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8B5394-2C41-45C5-A27A-BDAF6176F7A9}">
      <dsp:nvSpPr>
        <dsp:cNvPr id="0" name=""/>
        <dsp:cNvSpPr/>
      </dsp:nvSpPr>
      <dsp:spPr>
        <a:xfrm>
          <a:off x="0" y="92172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use of </a:t>
          </a:r>
          <a:r>
            <a:rPr lang="en-US" sz="2000" b="1" kern="1200"/>
            <a:t>Convolutional Neural Networks (CNNs)</a:t>
          </a:r>
          <a:r>
            <a:rPr lang="en-US" sz="2000" kern="1200"/>
            <a:t> and </a:t>
          </a:r>
          <a:r>
            <a:rPr lang="en-US" sz="2000" b="1" kern="1200"/>
            <a:t>Deep Learning</a:t>
          </a:r>
          <a:r>
            <a:rPr lang="en-US" sz="2000" kern="1200"/>
            <a:t> significantly improves the </a:t>
          </a:r>
          <a:r>
            <a:rPr lang="en-US" sz="2000" b="1" kern="1200"/>
            <a:t>accuracy</a:t>
          </a:r>
          <a:r>
            <a:rPr lang="en-US" sz="2000" kern="1200"/>
            <a:t> and </a:t>
          </a:r>
          <a:r>
            <a:rPr lang="en-US" sz="2000" b="1" kern="1200"/>
            <a:t>efficiency</a:t>
          </a:r>
          <a:r>
            <a:rPr lang="en-US" sz="2000" kern="1200"/>
            <a:t> of emotion detection from facial images.</a:t>
          </a:r>
        </a:p>
      </dsp:txBody>
      <dsp:txXfrm>
        <a:off x="0" y="921722"/>
        <a:ext cx="6683374" cy="921160"/>
      </dsp:txXfrm>
    </dsp:sp>
    <dsp:sp modelId="{902FF67B-765B-45D7-9B3F-9F674F558833}">
      <dsp:nvSpPr>
        <dsp:cNvPr id="0" name=""/>
        <dsp:cNvSpPr/>
      </dsp:nvSpPr>
      <dsp:spPr>
        <a:xfrm>
          <a:off x="0" y="184288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1094640"/>
                <a:satOff val="9958"/>
                <a:lumOff val="294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094640"/>
                <a:satOff val="9958"/>
                <a:lumOff val="294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094640"/>
                <a:satOff val="9958"/>
                <a:lumOff val="294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094640"/>
              <a:satOff val="9958"/>
              <a:lumOff val="294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AEEC45-E12F-4F4A-B167-98480C23FE02}">
      <dsp:nvSpPr>
        <dsp:cNvPr id="0" name=""/>
        <dsp:cNvSpPr/>
      </dsp:nvSpPr>
      <dsp:spPr>
        <a:xfrm>
          <a:off x="0" y="184288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It successfully classifies key expressions like happiness, sadness, anger, surprise, etc., with promising performance metrics.</a:t>
          </a:r>
        </a:p>
      </dsp:txBody>
      <dsp:txXfrm>
        <a:off x="0" y="1842882"/>
        <a:ext cx="6683374" cy="921160"/>
      </dsp:txXfrm>
    </dsp:sp>
    <dsp:sp modelId="{D7848374-E0A0-4144-860F-B4ED0240808C}">
      <dsp:nvSpPr>
        <dsp:cNvPr id="0" name=""/>
        <dsp:cNvSpPr/>
      </dsp:nvSpPr>
      <dsp:spPr>
        <a:xfrm>
          <a:off x="0" y="276404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1641960"/>
                <a:satOff val="14937"/>
                <a:lumOff val="441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641960"/>
                <a:satOff val="14937"/>
                <a:lumOff val="441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641960"/>
                <a:satOff val="14937"/>
                <a:lumOff val="441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641960"/>
              <a:satOff val="14937"/>
              <a:lumOff val="441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08233A-92F7-4185-91E2-C56C12BFA3A8}">
      <dsp:nvSpPr>
        <dsp:cNvPr id="0" name=""/>
        <dsp:cNvSpPr/>
      </dsp:nvSpPr>
      <dsp:spPr>
        <a:xfrm>
          <a:off x="0" y="276404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integration of CNNs allows for </a:t>
          </a:r>
          <a:r>
            <a:rPr lang="en-US" sz="2000" b="1" kern="1200"/>
            <a:t>automatic feature extraction</a:t>
          </a:r>
          <a:r>
            <a:rPr lang="en-US" sz="2000" kern="1200"/>
            <a:t>, reducing the need for manual preprocessing.</a:t>
          </a:r>
        </a:p>
      </dsp:txBody>
      <dsp:txXfrm>
        <a:off x="0" y="2764042"/>
        <a:ext cx="6683374" cy="921160"/>
      </dsp:txXfrm>
    </dsp:sp>
    <dsp:sp modelId="{D6146679-A12F-4375-8455-054448DB8AAA}">
      <dsp:nvSpPr>
        <dsp:cNvPr id="0" name=""/>
        <dsp:cNvSpPr/>
      </dsp:nvSpPr>
      <dsp:spPr>
        <a:xfrm>
          <a:off x="0" y="368520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2189280"/>
                <a:satOff val="19916"/>
                <a:lumOff val="588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2189280"/>
                <a:satOff val="19916"/>
                <a:lumOff val="588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2189280"/>
                <a:satOff val="19916"/>
                <a:lumOff val="588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189280"/>
              <a:satOff val="19916"/>
              <a:lumOff val="588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4EDB76-93A8-47F0-B2B2-98FDE97B166B}">
      <dsp:nvSpPr>
        <dsp:cNvPr id="0" name=""/>
        <dsp:cNvSpPr/>
      </dsp:nvSpPr>
      <dsp:spPr>
        <a:xfrm>
          <a:off x="0" y="368520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With further training on larger and more diverse datasets, the system can be made even more </a:t>
          </a:r>
          <a:r>
            <a:rPr lang="en-US" sz="2000" b="1" kern="1200"/>
            <a:t>robust</a:t>
          </a:r>
          <a:r>
            <a:rPr lang="en-US" sz="2000" kern="1200"/>
            <a:t>, </a:t>
          </a:r>
          <a:r>
            <a:rPr lang="en-US" sz="2000" b="1" kern="1200"/>
            <a:t>real-time</a:t>
          </a:r>
          <a:r>
            <a:rPr lang="en-US" sz="2000" kern="1200"/>
            <a:t>, and </a:t>
          </a:r>
          <a:r>
            <a:rPr lang="en-US" sz="2000" b="1" kern="1200"/>
            <a:t>applicable across various domains</a:t>
          </a:r>
          <a:r>
            <a:rPr lang="en-US" sz="2000" kern="1200"/>
            <a:t>.</a:t>
          </a:r>
        </a:p>
      </dsp:txBody>
      <dsp:txXfrm>
        <a:off x="0" y="3685202"/>
        <a:ext cx="6683374" cy="921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6A97-2BCA-0522-140A-5803D133F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920" y="731520"/>
            <a:ext cx="8686800" cy="2286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95000"/>
                  </a:schemeClr>
                </a:solidFill>
                <a:latin typeface="Bernard MT Condensed" panose="02050806060905020404" pitchFamily="18" charset="0"/>
              </a:rPr>
              <a:t>FACIAL EXPRESSION RECOGNISATION SYSTEM USING </a:t>
            </a:r>
            <a:br>
              <a:rPr lang="en-US" sz="6000" dirty="0">
                <a:solidFill>
                  <a:schemeClr val="tx1">
                    <a:lumMod val="95000"/>
                  </a:schemeClr>
                </a:solidFill>
                <a:latin typeface="Bernard MT Condensed" panose="020508060609050204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</a:schemeClr>
                </a:solidFill>
                <a:latin typeface="Bernard MT Condensed" panose="02050806060905020404" pitchFamily="18" charset="0"/>
              </a:rPr>
              <a:t>CNN ALGORITHM AND Dl</a:t>
            </a:r>
            <a:endParaRPr lang="en-IN" sz="6000" dirty="0">
              <a:solidFill>
                <a:schemeClr val="tx1">
                  <a:lumMod val="95000"/>
                </a:schemeClr>
              </a:solidFill>
              <a:latin typeface="Bernard MT Condensed" panose="02050806060905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C0DC7-F864-E4A7-91E4-FAC94E80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4" y="559833"/>
            <a:ext cx="1149228" cy="1337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3200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CD7F5"/>
                </a:solidFill>
                <a:latin typeface="Calibri"/>
              </a:rPr>
              <a:t>COLLEGE MINOR PROJECT — 5th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114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UNDER THE GUIDANCE:</a:t>
            </a:r>
            <a:br/>
            <a:r>
              <a:t>MS. ZEBA RUQSHANH</a:t>
            </a:r>
            <a:br/>
            <a:r>
              <a:t>(ASSISTANT PROFESSOR)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PRESENTED BY:
</a:t>
            </a:r>
            <a:r>
              <a:rPr sz="1600" b="1">
                <a:solidFill>
                  <a:srgbClr val="FFFFFF"/>
                </a:solidFill>
                <a:latin typeface="Calibri"/>
              </a:rPr>
              <a:t>SYED MOAZAM
</a:t>
            </a:r>
            <a:r>
              <a:rPr sz="1400" b="1">
                <a:solidFill>
                  <a:srgbClr val="8CD7F5"/>
                </a:solidFill>
                <a:latin typeface="Calibri"/>
              </a:rPr>
              <a:t>(160923748131)</a:t>
            </a:r>
          </a:p>
        </p:txBody>
      </p:sp>
    </p:spTree>
    <p:extLst>
      <p:ext uri="{BB962C8B-B14F-4D97-AF65-F5344CB8AC3E}">
        <p14:creationId xmlns:p14="http://schemas.microsoft.com/office/powerpoint/2010/main" val="28215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BE80-2233-15D1-C7EB-CE1D7C2CB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4100" i="1" u="sng">
                <a:latin typeface="Algerian" panose="04020705040A02060702" pitchFamily="82" charset="0"/>
              </a:rPr>
              <a:t>ABSTRACT</a:t>
            </a:r>
            <a:endParaRPr lang="en-IN" sz="4100" i="1" u="sng"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B5-E446-4E2E-9AEC-3FEEEE7A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B3447-0A76-4E57-84A7-364FEBE4A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1DB35D0-CFB7-7EF3-8EA1-74E9A7CA02C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86397278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1747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428F9F-90A8-4A92-BD47-B411F785C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D27C419-ED5A-41B2-8002-141D64246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36DB25-3B7B-4F3F-DA2E-32FB5DFC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5" y="1274247"/>
            <a:ext cx="6909479" cy="4318423"/>
          </a:xfrm>
          <a:prstGeom prst="roundRect">
            <a:avLst>
              <a:gd name="adj" fmla="val 3516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A061C32-0067-4E9B-A78F-96F19B94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15D6B-B465-8302-0320-57CF8E07D9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96408" y="1706692"/>
            <a:ext cx="3352128" cy="388130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>
              <a:lnSpc>
                <a:spcPct val="110000"/>
              </a:lnSpc>
              <a:buClr>
                <a:srgbClr val="FFFFFF"/>
              </a:buClr>
            </a:pPr>
            <a:r>
              <a:rPr lang="en-IN" sz="1400">
                <a:ea typeface="+mn-lt"/>
                <a:cs typeface="+mn-lt"/>
              </a:rPr>
              <a:t>Automate emotion detection by applying image preprocessing and CNN-based feature extraction for accurate facial pattern analysis.</a:t>
            </a:r>
            <a:endParaRPr lang="en-IN" sz="1400"/>
          </a:p>
          <a:p>
            <a:pPr>
              <a:lnSpc>
                <a:spcPct val="110000"/>
              </a:lnSpc>
            </a:pPr>
            <a:r>
              <a:rPr lang="en-IN" sz="1400">
                <a:ea typeface="+mn-lt"/>
                <a:cs typeface="+mn-lt"/>
              </a:rPr>
              <a:t>Train and validate a deep learning model to classify a variety of human emotions effectively.</a:t>
            </a:r>
            <a:endParaRPr lang="en-IN" sz="1400"/>
          </a:p>
          <a:p>
            <a:pPr>
              <a:lnSpc>
                <a:spcPct val="110000"/>
              </a:lnSpc>
            </a:pPr>
            <a:r>
              <a:rPr lang="en-IN" sz="1400">
                <a:ea typeface="+mn-lt"/>
                <a:cs typeface="+mn-lt"/>
              </a:rPr>
              <a:t>Improve model robustness to handle real-world challenges such as lighting changes, occlusions, and natural expression variations.</a:t>
            </a:r>
            <a:endParaRPr lang="en-IN" sz="1400"/>
          </a:p>
          <a:p>
            <a:pPr>
              <a:lnSpc>
                <a:spcPct val="110000"/>
              </a:lnSpc>
              <a:buClr>
                <a:srgbClr val="FFFFFF"/>
              </a:buClr>
            </a:pPr>
            <a:endParaRPr lang="en-IN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33057-7332-D8C0-5DCA-54AB3F68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r>
              <a:rPr lang="en-US" i="1" u="sng">
                <a:latin typeface="Algerian" panose="04020705040A02060702" pitchFamily="82" charset="0"/>
              </a:rPr>
              <a:t>OBJECTIVES</a:t>
            </a:r>
            <a:endParaRPr lang="en-IN" i="1" u="sng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796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F4DB63-A191-45D9-8A53-9B18F8FE2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BB8E50-9569-495A-A548-A5AD5055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26545-4582-4DBE-973B-ED1BC9CBD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91"/>
            <a:ext cx="12188952" cy="228600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889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7A6981-7EBF-4F2B-BD20-3124170BF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77277" y="-1"/>
            <a:ext cx="1272021" cy="841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97DCFF-C2AA-4065-BFCF-1E7535B0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4" t="86960" r="29150"/>
          <a:stretch/>
        </p:blipFill>
        <p:spPr>
          <a:xfrm>
            <a:off x="11061755" y="-1"/>
            <a:ext cx="1127197" cy="553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E1159C-5B31-49A8-A933-C1179723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59" t="72411" r="-74" b="13790"/>
          <a:stretch/>
        </p:blipFill>
        <p:spPr>
          <a:xfrm>
            <a:off x="77277" y="1444827"/>
            <a:ext cx="1096303" cy="841175"/>
          </a:xfrm>
          <a:custGeom>
            <a:avLst/>
            <a:gdLst>
              <a:gd name="connsiteX0" fmla="*/ 0 w 915864"/>
              <a:gd name="connsiteY0" fmla="*/ 0 h 702727"/>
              <a:gd name="connsiteX1" fmla="*/ 915864 w 915864"/>
              <a:gd name="connsiteY1" fmla="*/ 0 h 702727"/>
              <a:gd name="connsiteX2" fmla="*/ 915864 w 915864"/>
              <a:gd name="connsiteY2" fmla="*/ 702727 h 702727"/>
              <a:gd name="connsiteX3" fmla="*/ 176126 w 915864"/>
              <a:gd name="connsiteY3" fmla="*/ 702727 h 702727"/>
              <a:gd name="connsiteX4" fmla="*/ 175195 w 915864"/>
              <a:gd name="connsiteY4" fmla="*/ 702179 h 702727"/>
              <a:gd name="connsiteX5" fmla="*/ 45222 w 915864"/>
              <a:gd name="connsiteY5" fmla="*/ 592499 h 702727"/>
              <a:gd name="connsiteX6" fmla="*/ 0 w 915864"/>
              <a:gd name="connsiteY6" fmla="*/ 531614 h 70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864" h="702727">
                <a:moveTo>
                  <a:pt x="0" y="0"/>
                </a:moveTo>
                <a:lnTo>
                  <a:pt x="915864" y="0"/>
                </a:lnTo>
                <a:lnTo>
                  <a:pt x="915864" y="702727"/>
                </a:lnTo>
                <a:lnTo>
                  <a:pt x="176126" y="702727"/>
                </a:lnTo>
                <a:lnTo>
                  <a:pt x="175195" y="702179"/>
                </a:lnTo>
                <a:cubicBezTo>
                  <a:pt x="126139" y="669596"/>
                  <a:pt x="82453" y="632772"/>
                  <a:pt x="45222" y="592499"/>
                </a:cubicBezTo>
                <a:lnTo>
                  <a:pt x="0" y="531614"/>
                </a:lnTo>
                <a:close/>
              </a:path>
            </a:pathLst>
          </a:cu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9BD01A-0D38-48EA-98E5-BB66386F3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11036686" y="1071807"/>
            <a:ext cx="1155314" cy="1230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216EA-CDCD-F7F5-B936-0049D036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39924"/>
            <a:ext cx="10364451" cy="1437937"/>
          </a:xfrm>
        </p:spPr>
        <p:txBody>
          <a:bodyPr>
            <a:normAutofit/>
          </a:bodyPr>
          <a:lstStyle/>
          <a:p>
            <a:r>
              <a:rPr lang="en-US" i="1" u="sng">
                <a:solidFill>
                  <a:schemeClr val="bg1"/>
                </a:solidFill>
                <a:latin typeface="Algerian" panose="04020705040A02060702" pitchFamily="82" charset="0"/>
              </a:rPr>
              <a:t>EXISTING SYSTEM</a:t>
            </a:r>
            <a:endParaRPr lang="en-IN" i="1" u="sng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359E56-C17B-C08B-D3EB-166BCDE5C3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705878"/>
            <a:ext cx="10363826" cy="30853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/>
              <a:t>Existing facial expression recognition systems</a:t>
            </a:r>
            <a:r>
              <a:rPr lang="en-US"/>
              <a:t> primarily use traditional machine learning algorithms with manually extracted features (like LBP, HOG). These systems are limited in accuracy, scalability, and performance under real-world conditions.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IN"/>
              <a:t>Traditional Machine Learning Approaches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IN"/>
              <a:t>Feature Extraction + Classification Pipeline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IN"/>
              <a:t>Basic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194258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5FFC58-15A1-9107-7F5B-06B7C749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3400" i="1" u="sng">
                <a:latin typeface="Algerian" panose="04020705040A02060702" pitchFamily="82" charset="0"/>
              </a:rPr>
              <a:t>DRAWBACKS</a:t>
            </a:r>
            <a:endParaRPr lang="en-IN" sz="3400" i="1" u="sng">
              <a:latin typeface="Algerian" panose="04020705040A02060702" pitchFamily="82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F84DC3B4-34EE-FA0D-B356-4E5E2394CB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701008" y="1193576"/>
            <a:ext cx="6576591" cy="44708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effectLst/>
              </a:rPr>
              <a:t>REQUIRES LARGE DATASETS: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NEEDS EXTENSIVE LABELED FACIAL EXPRESSION DATA FOR ACCURATE TRAINING.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HIGH COMPUTATIONAL POWER: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TRAINING CNN MODELS DEMANDS POWERFUL GPUS, WHICH CAN BE COSTLY.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RISK OF OVERFITTING: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CNN MODELS MAY OVERFIT WITHOUT PROPER REGULARIZATION AND DATA AUGMENTATION.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REAL-TIME CHALLENGES: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LIMITED HARDWARE CAN CAUSE DELAYS IN REAL-TIME EXPRESSION RECOGNITION.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COMPLEX IMPLEMENTATION: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DEVELOPING AND TUNING DEEP LEARNING MODELS REQUIRES EXPERTISE.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PRIVACY CONCERNS: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USE OF FACIAL DATA RAISES ETHICAL AND PRIVACY ISSUES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9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25F82F-6605-405C-A5C5-0622A83B5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E6E59B7-7C9D-472E-B95F-85C7D79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93729-03D9-B575-144E-C586D402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4" y="1468676"/>
            <a:ext cx="3995592" cy="389570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693CF5-7DB7-4CB0-BE08-5657C6E8B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A39F-497A-B21B-1AB7-BCF6170080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520" y="2367092"/>
            <a:ext cx="5855415" cy="38474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/>
              <a:t>The proposed system combines </a:t>
            </a:r>
            <a:r>
              <a:rPr lang="en-US" sz="1300" b="1"/>
              <a:t>YOLO (You Only Look Once)</a:t>
            </a:r>
            <a:r>
              <a:rPr lang="en-US" sz="1300"/>
              <a:t> for fast and accurate face detection with a </a:t>
            </a:r>
            <a:r>
              <a:rPr lang="en-US" sz="1300" b="1"/>
              <a:t>CNN-based deep learning model</a:t>
            </a:r>
            <a:r>
              <a:rPr lang="en-US" sz="1300"/>
              <a:t> for automatic facial expression recognition, enabling real-time and robust emotion classification.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r>
              <a:rPr lang="en-US" sz="1300" u="sng">
                <a:latin typeface="Algerian" panose="04020705040A02060702" pitchFamily="82" charset="0"/>
              </a:rPr>
              <a:t>ADVANTAGES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Automatic Feature Learning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Higher Accuracy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Robust to Variations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Scalable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Potential for Real-Time Processing</a:t>
            </a:r>
          </a:p>
          <a:p>
            <a:pPr>
              <a:lnSpc>
                <a:spcPct val="110000"/>
              </a:lnSpc>
            </a:pPr>
            <a:r>
              <a:rPr lang="en-IN" sz="1300">
                <a:effectLst/>
              </a:rPr>
              <a:t>Reduced Manual Intervention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413EB-70BD-F5CF-44D8-19158F3A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520" y="618517"/>
            <a:ext cx="5855416" cy="1596177"/>
          </a:xfrm>
        </p:spPr>
        <p:txBody>
          <a:bodyPr>
            <a:normAutofit/>
          </a:bodyPr>
          <a:lstStyle/>
          <a:p>
            <a:r>
              <a:rPr lang="en-US" i="1" u="sng">
                <a:latin typeface="Algerian" panose="04020705040A02060702" pitchFamily="82" charset="0"/>
              </a:rPr>
              <a:t>PROPOSED SYSTEM AND </a:t>
            </a:r>
            <a:br>
              <a:rPr lang="en-US" i="1" u="sng">
                <a:latin typeface="Algerian" panose="04020705040A02060702" pitchFamily="82" charset="0"/>
              </a:rPr>
            </a:br>
            <a:r>
              <a:rPr lang="en-US" i="1" u="sng">
                <a:latin typeface="Algerian" panose="04020705040A02060702" pitchFamily="82" charset="0"/>
              </a:rPr>
              <a:t>ADVANTAGES</a:t>
            </a:r>
            <a:endParaRPr lang="en-IN" i="1" u="sng">
              <a:latin typeface="Algerian" panose="04020705040A02060702" pitchFamily="8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E64401-12B5-44BC-D8B7-A7434161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94360" y="361009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4072-C912-820A-56D4-0294D340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15" y="268712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i="1" u="sng" dirty="0">
                <a:latin typeface="Algerian" panose="04020705040A02060702" pitchFamily="82" charset="0"/>
              </a:rPr>
              <a:t>SYSTEM REQUIREMENTS</a:t>
            </a:r>
            <a:endParaRPr lang="en-IN" sz="5400" i="1" u="sng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686AD-D8BD-CC88-4FA6-17785BBDCC9F}"/>
              </a:ext>
            </a:extLst>
          </p:cNvPr>
          <p:cNvSpPr txBox="1"/>
          <p:nvPr/>
        </p:nvSpPr>
        <p:spPr>
          <a:xfrm>
            <a:off x="950976" y="2129578"/>
            <a:ext cx="454456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lgerian" panose="04020705040A02060702" pitchFamily="82" charset="0"/>
              </a:rPr>
              <a:t>SOFTWARE REQUIREMENTS</a:t>
            </a:r>
            <a:r>
              <a:rPr lang="en-US" sz="2400" b="1" dirty="0">
                <a:latin typeface="Algerian" panose="04020705040A02060702" pitchFamily="82" charset="0"/>
              </a:rPr>
              <a:t>    </a:t>
            </a:r>
          </a:p>
          <a:p>
            <a:r>
              <a:rPr lang="en-US" sz="2400" b="1" dirty="0"/>
              <a:t>           </a:t>
            </a:r>
          </a:p>
          <a:p>
            <a:pPr marL="285750" lvl="0" indent="-285750">
              <a:buFontTx/>
              <a:buChar char="-"/>
            </a:pPr>
            <a:r>
              <a:rPr lang="en-IN" dirty="0"/>
              <a:t>Programming Language: Python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Deep Learning Libraries: TensorFlow, </a:t>
            </a:r>
            <a:r>
              <a:rPr lang="en-IN" dirty="0" err="1"/>
              <a:t>Keras</a:t>
            </a:r>
            <a:r>
              <a:rPr lang="en-IN" dirty="0"/>
              <a:t>, or </a:t>
            </a:r>
            <a:r>
              <a:rPr lang="en-IN" dirty="0" err="1"/>
              <a:t>PyTorch</a:t>
            </a:r>
            <a:endParaRPr lang="en-IN" dirty="0"/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Image Processing: OpenCV, NumPy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IDE: </a:t>
            </a:r>
            <a:r>
              <a:rPr lang="en-IN" dirty="0" err="1"/>
              <a:t>Jupyter</a:t>
            </a:r>
            <a:r>
              <a:rPr lang="en-IN" dirty="0"/>
              <a:t> Notebook, VS Code, or PyCharm</a:t>
            </a:r>
          </a:p>
          <a:p>
            <a:pPr lvl="0"/>
            <a:endParaRPr lang="en-IN" dirty="0"/>
          </a:p>
          <a:p>
            <a:r>
              <a:rPr lang="en-US" sz="2400" b="1" u="sng" dirty="0"/>
              <a:t>  </a:t>
            </a:r>
          </a:p>
          <a:p>
            <a:r>
              <a:rPr lang="en-US" sz="2400" b="1" u="sng" dirty="0"/>
              <a:t>                         </a:t>
            </a:r>
            <a:endParaRPr lang="en-IN" sz="2000" dirty="0"/>
          </a:p>
          <a:p>
            <a:pPr lvl="0"/>
            <a:endParaRPr lang="en-IN" sz="2000" dirty="0"/>
          </a:p>
          <a:p>
            <a:endParaRPr lang="en-US" sz="2000" b="1" u="sng" dirty="0"/>
          </a:p>
          <a:p>
            <a:endParaRPr lang="en-IN" sz="2400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C5298-826C-1C65-087D-0DD49EEFA15A}"/>
              </a:ext>
            </a:extLst>
          </p:cNvPr>
          <p:cNvSpPr txBox="1"/>
          <p:nvPr/>
        </p:nvSpPr>
        <p:spPr>
          <a:xfrm>
            <a:off x="6455664" y="2130065"/>
            <a:ext cx="41330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lgerian" panose="04020705040A02060702" pitchFamily="82" charset="0"/>
              </a:rPr>
              <a:t>HARDWARE REQUIREMENTS </a:t>
            </a:r>
          </a:p>
          <a:p>
            <a:endParaRPr lang="en-US" sz="2400" b="1" u="sng" dirty="0"/>
          </a:p>
          <a:p>
            <a:pPr marL="285750" lvl="0" indent="-285750">
              <a:buFontTx/>
              <a:buChar char="-"/>
            </a:pPr>
            <a:r>
              <a:rPr lang="en-IN" dirty="0"/>
              <a:t>CPU: Multi-core processor (Intel i5 or higher recommended)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GPU: NVIDIA GPU with CUDA support (e.g., GTX 1050 or higher) for faster training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RAM: Minimum 8 GB (16 GB recommended for large datasets)</a:t>
            </a:r>
          </a:p>
          <a:p>
            <a:pPr lvl="0"/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Storage: Sufficient space for datasets and model checkpoints (at least 50 GB)</a:t>
            </a:r>
          </a:p>
        </p:txBody>
      </p:sp>
    </p:spTree>
    <p:extLst>
      <p:ext uri="{BB962C8B-B14F-4D97-AF65-F5344CB8AC3E}">
        <p14:creationId xmlns:p14="http://schemas.microsoft.com/office/powerpoint/2010/main" val="210846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7D3BF70F-AEA1-4030-9D52-4D4CE1A15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99A290C2-8CB3-4B1A-A72F-857B26DD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diagram of a system&#10;&#10;AI-generated content may be incorrect.">
            <a:extLst>
              <a:ext uri="{FF2B5EF4-FFF2-40B4-BE49-F238E27FC236}">
                <a16:creationId xmlns:a16="http://schemas.microsoft.com/office/drawing/2014/main" id="{9332575A-5EC4-C4C2-D7F6-C8CCB566F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261" y="356395"/>
            <a:ext cx="8486163" cy="5675308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5F87E6D-A7B9-47A5-A59D-F719FDF1F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59A6E-7CFF-B8C0-DF96-D75CD19B54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5274" y="7701092"/>
            <a:ext cx="3893978" cy="342410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84991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4BCA-AC4A-05B8-A647-BAA9992C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3700" i="1" u="sng">
                <a:latin typeface="Algerian" panose="04020705040A02060702" pitchFamily="82" charset="0"/>
              </a:rPr>
              <a:t>CONCLUSION</a:t>
            </a:r>
            <a:endParaRPr lang="en-IN" sz="3700" i="1" u="sng"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B5-E446-4E2E-9AEC-3FEEEE7A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B3447-0A76-4E57-84A7-364FEBE4A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8EACA3-6BFB-FB21-9DA5-C1D771FD5EE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19679618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5256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257</TotalTime>
  <Words>609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Droplet</vt:lpstr>
      <vt:lpstr>FACIAL EXPRESSION RECOGNISATION SYSTEM USING  CNN ALGORITHM AND Dl</vt:lpstr>
      <vt:lpstr>ABSTRACT</vt:lpstr>
      <vt:lpstr>OBJECTIVES</vt:lpstr>
      <vt:lpstr>EXISTING SYSTEM</vt:lpstr>
      <vt:lpstr>DRAWBACKS</vt:lpstr>
      <vt:lpstr>PROPOSED SYSTEM AND  ADVANTAGES</vt:lpstr>
      <vt:lpstr>SYSTEM REQUIREMENTS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ZAYN FAROOQUI</dc:creator>
  <cp:lastModifiedBy>ZAYN FAROOQUI</cp:lastModifiedBy>
  <cp:revision>87</cp:revision>
  <dcterms:created xsi:type="dcterms:W3CDTF">2025-09-24T04:42:03Z</dcterms:created>
  <dcterms:modified xsi:type="dcterms:W3CDTF">2025-10-07T08:51:12Z</dcterms:modified>
</cp:coreProperties>
</file>